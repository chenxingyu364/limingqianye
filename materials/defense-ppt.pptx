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A063"/>
                </a:solidFill>
                <a:latin typeface="方正姚体"/>
                <a:ea typeface="方正姚体"/>
              </a:rPr>
              <a:t>THE NIGHT BEFORE DAWN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0">
                <a:solidFill>
                  <a:srgbClr val="F2ECE3"/>
                </a:solidFill>
                <a:latin typeface="方正舒体"/>
                <a:ea typeface="方正舒体"/>
              </a:rPr>
              <a:t>黎明前夜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77639"/>
            <a:ext cx="1005840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C9A063"/>
                </a:solidFill>
                <a:latin typeface="等线"/>
                <a:ea typeface="等线"/>
              </a:rPr>
              <a:t>红岩精神互动叙事游戏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9C948A"/>
                </a:solidFill>
                <a:latin typeface="等线"/>
                <a:ea typeface="等线"/>
              </a:rPr>
              <a:t>数字媒体艺术设计参赛作品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9C948A"/>
                </a:solidFill>
                <a:latin typeface="等线"/>
                <a:ea typeface="等线"/>
              </a:rPr>
              <a:t>在线演示：chenxingyu364.github.io/limingqianye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WHY · 创作缘起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为什么做这个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F2ECE3"/>
                </a:solidFill>
                <a:latin typeface="方正舒体"/>
                <a:ea typeface="方正舒体"/>
              </a:rPr>
              <a:t>从渣滓洞参观回来那天，群里有人说：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F2ECE3"/>
                </a:solidFill>
                <a:latin typeface="方正舒体"/>
                <a:ea typeface="方正舒体"/>
              </a:rPr>
              <a:t>「一整场讲解，最后就记住了那面绣的红旗。」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F2ECE3"/>
                </a:solidFill>
                <a:latin typeface="方正舒体"/>
                <a:ea typeface="方正舒体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F2ECE3"/>
                </a:solidFill>
                <a:latin typeface="方正舒体"/>
                <a:ea typeface="方正舒体"/>
              </a:rPr>
              <a:t>我们想做点什么。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F2ECE3"/>
                </a:solidFill>
                <a:latin typeface="方正舒体"/>
                <a:ea typeface="方正舒体"/>
              </a:rPr>
              <a:t>不讲历史，让人自己走进去，自己做一次选择。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THE GAME · 作品是什么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一个报童的四个夜晚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3949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700" b="0">
                <a:solidFill>
                  <a:srgbClr val="F2ECE3"/>
                </a:solidFill>
                <a:latin typeface="等线"/>
                <a:ea typeface="等线"/>
              </a:rPr>
              <a:t>玩家扮演 1949 年重庆的报童宋小福，</a:t>
            </a:r>
          </a:p>
          <a:p>
            <a:pPr algn="l">
              <a:lnSpc>
                <a:spcPct val="190000"/>
              </a:lnSpc>
            </a:pPr>
            <a:r>
              <a:rPr sz="1700" b="0">
                <a:solidFill>
                  <a:srgbClr val="F2ECE3"/>
                </a:solidFill>
                <a:latin typeface="等线"/>
                <a:ea typeface="等线"/>
              </a:rPr>
              <a:t>送报、入狱、传诗、迎来黎明。</a:t>
            </a:r>
          </a:p>
          <a:p>
            <a:pPr algn="l">
              <a:lnSpc>
                <a:spcPct val="190000"/>
              </a:lnSpc>
            </a:pPr>
            <a:r>
              <a:rPr sz="1700" b="0">
                <a:solidFill>
                  <a:srgbClr val="F2ECE3"/>
                </a:solidFill>
                <a:latin typeface="等线"/>
                <a:ea typeface="等线"/>
              </a:rPr>
              <a:t>四章剧情，四次生死抉择。</a:t>
            </a:r>
          </a:p>
          <a:p>
            <a:pPr algn="l">
              <a:lnSpc>
                <a:spcPct val="190000"/>
              </a:lnSpc>
            </a:pPr>
            <a:r>
              <a:rPr sz="1700" b="0">
                <a:solidFill>
                  <a:srgbClr val="F2ECE3"/>
                </a:solidFill>
                <a:latin typeface="等线"/>
                <a:ea typeface="等线"/>
              </a:rPr>
              <a:t/>
            </a:r>
          </a:p>
          <a:p>
            <a:pPr algn="l">
              <a:lnSpc>
                <a:spcPct val="190000"/>
              </a:lnSpc>
            </a:pPr>
            <a:r>
              <a:rPr sz="1700" b="0">
                <a:solidFill>
                  <a:srgbClr val="F2ECE3"/>
                </a:solidFill>
                <a:latin typeface="等线"/>
                <a:ea typeface="等线"/>
              </a:rPr>
              <a:t>结局不是打出来的，是「选」出来的。</a:t>
            </a:r>
          </a:p>
        </p:txBody>
      </p:sp>
      <p:pic>
        <p:nvPicPr>
          <p:cNvPr id="7" name="Picture 6" descr="QQ_17915534259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4937760" cy="2878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GAMEPLAY · 怎么玩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四次选择，走向你的黎明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2ECE3"/>
                </a:solidFill>
                <a:latin typeface="方正舒体"/>
                <a:ea typeface="方正舒体"/>
              </a:rPr>
              <a:t>雾都夜行      狱中书信      囚窗诗会      黎明前夜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48A"/>
                </a:solidFill>
                <a:latin typeface="等线"/>
                <a:ea typeface="等线"/>
              </a:rPr>
              <a:t>四章剧情 · 每章一次生死抉择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A063"/>
                </a:solidFill>
                <a:latin typeface="等线"/>
                <a:ea typeface="等线"/>
              </a:rPr>
              <a:t>忠贞      坚韧      智慧      柔情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48A"/>
                </a:solidFill>
                <a:latin typeface="等线"/>
                <a:ea typeface="等线"/>
              </a:rPr>
              <a:t>每一次选择，累计一种品格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500" b="0">
                <a:solidFill>
                  <a:srgbClr val="9C948A"/>
                </a:solidFill>
                <a:latin typeface="等线"/>
                <a:ea typeface="等线"/>
              </a:rPr>
              <a:t>明灯不灭 · 暗夜传灯 · 狱中磐石 · 铁骨柔情</a:t>
            </a:r>
          </a:p>
          <a:p>
            <a:pPr algn="l">
              <a:lnSpc>
                <a:spcPct val="180000"/>
              </a:lnSpc>
            </a:pPr>
            <a:r>
              <a:rPr sz="1500" b="0">
                <a:solidFill>
                  <a:srgbClr val="9C948A"/>
                </a:solidFill>
                <a:latin typeface="等线"/>
                <a:ea typeface="等线"/>
              </a:rPr>
              <a:t>隐藏结局：集齐四件道具 — 黎明之光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LIVE · 作品实况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打开这个网页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Q_17915535015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3383280" cy="1849910"/>
          </a:xfrm>
          <a:prstGeom prst="rect">
            <a:avLst/>
          </a:prstGeom>
        </p:spPr>
      </p:pic>
      <p:pic>
        <p:nvPicPr>
          <p:cNvPr id="7" name="Picture 6" descr="QQ_1791553633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240280"/>
            <a:ext cx="3383280" cy="1884168"/>
          </a:xfrm>
          <a:prstGeom prst="rect">
            <a:avLst/>
          </a:prstGeom>
        </p:spPr>
      </p:pic>
      <p:pic>
        <p:nvPicPr>
          <p:cNvPr id="8" name="Picture 7" descr="QQ_17915536598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240280"/>
            <a:ext cx="3383280" cy="19030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INSIDE · 作品实况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继续往下滚，还有这些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Q_1791553676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3383280" cy="1957954"/>
          </a:xfrm>
          <a:prstGeom prst="rect">
            <a:avLst/>
          </a:prstGeom>
        </p:spPr>
      </p:pic>
      <p:pic>
        <p:nvPicPr>
          <p:cNvPr id="7" name="Picture 6" descr="QQ_17915537097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240280"/>
            <a:ext cx="3383280" cy="1869671"/>
          </a:xfrm>
          <a:prstGeom prst="rect">
            <a:avLst/>
          </a:prstGeom>
        </p:spPr>
      </p:pic>
      <p:pic>
        <p:nvPicPr>
          <p:cNvPr id="8" name="Picture 7" descr="QQ_17915537281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240280"/>
            <a:ext cx="3383280" cy="1862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REAL · 真实与敬畏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虚拟的，和真实的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l-zhazidong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512064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2286000"/>
            <a:ext cx="51206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600" b="0">
                <a:solidFill>
                  <a:srgbClr val="F2ECE3"/>
                </a:solidFill>
                <a:latin typeface="等线"/>
                <a:ea typeface="等线"/>
              </a:rPr>
              <a:t>游戏是虚构的，地方是真的。</a:t>
            </a:r>
          </a:p>
          <a:p>
            <a:pPr algn="l">
              <a:lnSpc>
                <a:spcPct val="190000"/>
              </a:lnSpc>
            </a:pPr>
            <a:r>
              <a:rPr sz="1600" b="0">
                <a:solidFill>
                  <a:srgbClr val="F2ECE3"/>
                </a:solidFill>
                <a:latin typeface="等线"/>
                <a:ea typeface="等线"/>
              </a:rPr>
              <a:t/>
            </a:r>
          </a:p>
          <a:p>
            <a:pPr algn="l">
              <a:lnSpc>
                <a:spcPct val="190000"/>
              </a:lnSpc>
            </a:pPr>
            <a:r>
              <a:rPr sz="1600" b="0">
                <a:solidFill>
                  <a:srgbClr val="F2ECE3"/>
                </a:solidFill>
                <a:latin typeface="等线"/>
                <a:ea typeface="等线"/>
              </a:rPr>
              <a:t>所有剧情档案都来自真实史料：</a:t>
            </a:r>
          </a:p>
          <a:p>
            <a:pPr algn="l">
              <a:lnSpc>
                <a:spcPct val="190000"/>
              </a:lnSpc>
            </a:pPr>
            <a:r>
              <a:rPr sz="1600" b="0">
                <a:solidFill>
                  <a:srgbClr val="F2ECE3"/>
                </a:solidFill>
                <a:latin typeface="等线"/>
                <a:ea typeface="等线"/>
              </a:rPr>
              <a:t>江姐的竹签之问、狱中诗会、</a:t>
            </a:r>
          </a:p>
          <a:p>
            <a:pPr algn="l">
              <a:lnSpc>
                <a:spcPct val="190000"/>
              </a:lnSpc>
            </a:pPr>
            <a:r>
              <a:rPr sz="1600" b="0">
                <a:solidFill>
                  <a:srgbClr val="F2ECE3"/>
                </a:solidFill>
                <a:latin typeface="等线"/>
                <a:ea typeface="等线"/>
              </a:rPr>
              <a:t>1949 年 11 月 27 日、「狱中八条」。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943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665C"/>
                </a:solidFill>
                <a:latin typeface="等线"/>
                <a:ea typeface="等线"/>
              </a:rPr>
              <a:t>照片：渣滓洞监狱旧址 · CC BY-SA 4.0 · Wikimedia 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TECHNOLOGY · 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三个文件，打开就是全部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C9A063"/>
                </a:solidFill>
                <a:latin typeface="方正舒体"/>
                <a:ea typeface="方正舒体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48A"/>
                </a:solidFill>
                <a:latin typeface="等线"/>
                <a:ea typeface="等线"/>
              </a:rPr>
              <a:t>个文件：html / css /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46888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C9A063"/>
                </a:solidFill>
                <a:latin typeface="方正舒体"/>
                <a:ea typeface="方正舒体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7947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48A"/>
                </a:solidFill>
                <a:latin typeface="等线"/>
                <a:ea typeface="等线"/>
              </a:rPr>
              <a:t>个外部依赖、零联网、断网可运行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46888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C9A063"/>
                </a:solidFill>
                <a:latin typeface="方正舒体"/>
                <a:ea typeface="方正舒体"/>
              </a:rP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7947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948A"/>
                </a:solidFill>
                <a:latin typeface="等线"/>
                <a:ea typeface="等线"/>
              </a:rPr>
              <a:t>个可玩模块：游戏 / 绣旗 / 集卡 / 证书…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948A"/>
                </a:solidFill>
                <a:latin typeface="等线"/>
                <a:ea typeface="等线"/>
              </a:rPr>
              <a:t>Canvas 2D · SVG 手绘视觉 · Web Audio 合成音效 · localStorage 存档 — 全部浏览器原生能力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A063"/>
                </a:solidFill>
                <a:latin typeface="方正姚体"/>
                <a:ea typeface="方正姚体"/>
              </a:rPr>
              <a:t>AUTHOR'S NOTE · 创作手记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2ECE3"/>
                </a:solidFill>
                <a:latin typeface="方正舒体"/>
                <a:ea typeface="方正舒体"/>
              </a:rPr>
              <a:t>一句真心话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502920" cy="381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3000" b="0">
                <a:solidFill>
                  <a:srgbClr val="F2ECE3"/>
                </a:solidFill>
                <a:latin typeface="方正舒体"/>
                <a:ea typeface="方正舒体"/>
              </a:rPr>
              <a:t>「定稿那天，改稿的同学盯着屏幕看了很久，</a:t>
            </a:r>
          </a:p>
          <a:p>
            <a:pPr algn="l">
              <a:lnSpc>
                <a:spcPct val="160000"/>
              </a:lnSpc>
            </a:pPr>
            <a:r>
              <a:rPr sz="3000" b="0">
                <a:solidFill>
                  <a:srgbClr val="F2ECE3"/>
                </a:solidFill>
                <a:latin typeface="方正舒体"/>
                <a:ea typeface="方正舒体"/>
              </a:rPr>
              <a:t>说了一句：我们现在过得挺容易的。」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12064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9C948A"/>
                </a:solidFill>
                <a:latin typeface="等线"/>
                <a:ea typeface="等线"/>
              </a:rPr>
              <a:t>——《黎明前夜》创作手记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E665C"/>
                </a:solidFill>
                <a:latin typeface="方正姚体"/>
                <a:ea typeface="方正姚体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A063"/>
                </a:solidFill>
                <a:latin typeface="方正姚体"/>
                <a:ea typeface="方正姚体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>
                <a:solidFill>
                  <a:srgbClr val="F2ECE3"/>
                </a:solidFill>
                <a:latin typeface="方正舒体"/>
                <a:ea typeface="方正舒体"/>
              </a:rPr>
              <a:t>谢 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1005840" cy="508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A063"/>
                </a:solidFill>
                <a:latin typeface="等线"/>
                <a:ea typeface="等线"/>
              </a:rPr>
              <a:t>请各位老师批评指正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300" b="0">
                <a:solidFill>
                  <a:srgbClr val="9C948A"/>
                </a:solidFill>
                <a:latin typeface="等线"/>
                <a:ea typeface="等线"/>
              </a:rPr>
              <a:t>在线作品：chenxingyu364.github.io/limingqianye</a:t>
            </a:r>
          </a:p>
          <a:p>
            <a:pPr algn="l">
              <a:lnSpc>
                <a:spcPct val="180000"/>
              </a:lnSpc>
            </a:pPr>
            <a:r>
              <a:rPr sz="1300" b="0">
                <a:solidFill>
                  <a:srgbClr val="9C948A"/>
                </a:solidFill>
                <a:latin typeface="等线"/>
                <a:ea typeface="等线"/>
              </a:rPr>
              <a:t>如果你玩完之后，愿意去搜一搜「新华日报报童」——那我们做这件事的目的，就达到了。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