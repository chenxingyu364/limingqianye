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1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397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7744" y="237744"/>
            <a:ext cx="11716207" cy="6382512"/>
          </a:xfrm>
          <a:prstGeom prst="rect">
            <a:avLst/>
          </a:prstGeom>
          <a:noFill/>
          <a:ln w="6350">
            <a:solidFill>
              <a:srgbClr val="8A6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892040"/>
            <a:ext cx="12191695" cy="1650959"/>
          </a:xfrm>
          <a:prstGeom prst="rect">
            <a:avLst/>
          </a:prstGeom>
        </p:spPr>
      </p:pic>
      <p:pic>
        <p:nvPicPr>
          <p:cNvPr id="6" name="Picture 5" descr="pl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74320"/>
            <a:ext cx="292608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105156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D4AF74"/>
                </a:solidFill>
                <a:latin typeface="方正姚体"/>
                <a:ea typeface="方正姚体"/>
              </a:rPr>
              <a:t>THE  NIGHT  BEFORE  DAWN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0">
                <a:solidFill>
                  <a:srgbClr val="D4AF74"/>
                </a:solidFill>
                <a:latin typeface="方正舒体"/>
                <a:ea typeface="方正舒体"/>
              </a:rPr>
              <a:t>黎明前夜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41848" y="4160520"/>
            <a:ext cx="914400" cy="4445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F5EFE6"/>
                </a:solidFill>
                <a:latin typeface="等线"/>
                <a:ea typeface="等线"/>
              </a:rPr>
              <a:t>红岩精神互动叙事游戏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578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300" b="0">
                <a:solidFill>
                  <a:srgbClr val="A89E90"/>
                </a:solidFill>
                <a:latin typeface="等线"/>
                <a:ea typeface="等线"/>
              </a:rPr>
              <a:t>数字媒体艺术设计参赛作品</a:t>
            </a:r>
          </a:p>
          <a:p>
            <a:pPr algn="ctr">
              <a:lnSpc>
                <a:spcPct val="160000"/>
              </a:lnSpc>
            </a:pPr>
            <a:r>
              <a:rPr sz="1300" b="0">
                <a:solidFill>
                  <a:srgbClr val="A89E90"/>
                </a:solidFill>
                <a:latin typeface="等线"/>
                <a:ea typeface="等线"/>
              </a:rPr>
              <a:t>在线演示：chenxingyu364.github.io/limingqianye</a:t>
            </a:r>
          </a:p>
        </p:txBody>
      </p:sp>
      <p:pic>
        <p:nvPicPr>
          <p:cNvPr id="12" name="Picture 11" descr="seal-impr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48" y="3063240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397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7744" y="237744"/>
            <a:ext cx="11716207" cy="6382512"/>
          </a:xfrm>
          <a:prstGeom prst="rect">
            <a:avLst/>
          </a:prstGeom>
          <a:noFill/>
          <a:ln w="6350">
            <a:solidFill>
              <a:srgbClr val="8A6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566928"/>
            <a:ext cx="82296" cy="15240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50292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4AF74"/>
                </a:solidFill>
                <a:latin typeface="方正姚体"/>
                <a:ea typeface="方正姚体"/>
              </a:rPr>
              <a:t>WHY · 创作缘起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9692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>
                <a:solidFill>
                  <a:srgbClr val="F5EFE6"/>
                </a:solidFill>
                <a:latin typeface="方正舒体"/>
                <a:ea typeface="方正舒体"/>
              </a:rPr>
              <a:t>为什么做这个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700784"/>
            <a:ext cx="1371600" cy="30480"/>
          </a:xfrm>
          <a:prstGeom prst="rect">
            <a:avLst/>
          </a:prstGeom>
          <a:solidFill>
            <a:srgbClr val="D4AF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700784"/>
            <a:ext cx="548640" cy="3048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al-im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1088" y="347472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2057400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0">
                <a:solidFill>
                  <a:srgbClr val="8A6A3A"/>
                </a:solidFill>
                <a:latin typeface="方正舒体"/>
                <a:ea typeface="方正舒体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31720"/>
            <a:ext cx="969264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F5EFE6"/>
                </a:solidFill>
                <a:latin typeface="方正舒体"/>
                <a:ea typeface="方正舒体"/>
              </a:rPr>
              <a:t>从渣滓洞参观回来那天，群里有人说：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F5EFE6"/>
                </a:solidFill>
                <a:latin typeface="方正舒体"/>
                <a:ea typeface="方正舒体"/>
              </a:rPr>
              <a:t>「一整场讲解，最后就记住了那面绣的红旗。」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F5EFE6"/>
                </a:solidFill>
                <a:latin typeface="方正舒体"/>
                <a:ea typeface="方正舒体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F5EFE6"/>
                </a:solidFill>
                <a:latin typeface="方正舒体"/>
                <a:ea typeface="方正舒体"/>
              </a:rPr>
              <a:t>我们想做点什么。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F5EFE6"/>
                </a:solidFill>
                <a:latin typeface="方正舒体"/>
                <a:ea typeface="方正舒体"/>
              </a:rPr>
              <a:t>不讲历史，让人自己走进去，自己做一次选择。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5577840"/>
            <a:ext cx="9418320" cy="12700"/>
          </a:xfrm>
          <a:prstGeom prst="rect">
            <a:avLst/>
          </a:prstGeom>
          <a:solidFill>
            <a:srgbClr val="8A6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eal-im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4754880"/>
            <a:ext cx="822960" cy="822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607040" y="6327648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8A6A3A"/>
                </a:solidFill>
                <a:latin typeface="方正姚体"/>
                <a:ea typeface="方正姚体"/>
              </a:rPr>
              <a:t>· 02 ·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397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7744" y="237744"/>
            <a:ext cx="11716207" cy="6382512"/>
          </a:xfrm>
          <a:prstGeom prst="rect">
            <a:avLst/>
          </a:prstGeom>
          <a:noFill/>
          <a:ln w="6350">
            <a:solidFill>
              <a:srgbClr val="8A6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566928"/>
            <a:ext cx="82296" cy="15240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50292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4AF74"/>
                </a:solidFill>
                <a:latin typeface="方正姚体"/>
                <a:ea typeface="方正姚体"/>
              </a:rPr>
              <a:t>THE GAME · 作品是什么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9692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>
                <a:solidFill>
                  <a:srgbClr val="F5EFE6"/>
                </a:solidFill>
                <a:latin typeface="方正舒体"/>
                <a:ea typeface="方正舒体"/>
              </a:rPr>
              <a:t>一个报童的四个夜晚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700784"/>
            <a:ext cx="1371600" cy="30480"/>
          </a:xfrm>
          <a:prstGeom prst="rect">
            <a:avLst/>
          </a:prstGeom>
          <a:solidFill>
            <a:srgbClr val="D4AF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700784"/>
            <a:ext cx="548640" cy="3048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al-im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1088" y="347472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6112" y="2194560"/>
            <a:ext cx="51206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90000"/>
              </a:lnSpc>
            </a:pPr>
            <a:r>
              <a:rPr sz="1700" b="0">
                <a:solidFill>
                  <a:srgbClr val="F5EFE6"/>
                </a:solidFill>
                <a:latin typeface="等线"/>
                <a:ea typeface="等线"/>
              </a:rPr>
              <a:t>玩家扮演 1949 年重庆的报童宋小福，</a:t>
            </a:r>
          </a:p>
          <a:p>
            <a:pPr algn="l">
              <a:lnSpc>
                <a:spcPct val="190000"/>
              </a:lnSpc>
            </a:pPr>
            <a:r>
              <a:rPr sz="1700" b="0">
                <a:solidFill>
                  <a:srgbClr val="F5EFE6"/>
                </a:solidFill>
                <a:latin typeface="等线"/>
                <a:ea typeface="等线"/>
              </a:rPr>
              <a:t>送报、入狱、传诗、迎来黎明。</a:t>
            </a:r>
          </a:p>
          <a:p>
            <a:pPr algn="l">
              <a:lnSpc>
                <a:spcPct val="190000"/>
              </a:lnSpc>
            </a:pPr>
            <a:r>
              <a:rPr sz="1700" b="0">
                <a:solidFill>
                  <a:srgbClr val="F5EFE6"/>
                </a:solidFill>
                <a:latin typeface="等线"/>
                <a:ea typeface="等线"/>
              </a:rPr>
              <a:t>四章剧情，四次生死抉择。</a:t>
            </a:r>
          </a:p>
          <a:p>
            <a:pPr algn="l">
              <a:lnSpc>
                <a:spcPct val="190000"/>
              </a:lnSpc>
            </a:pPr>
            <a:r>
              <a:rPr sz="1700" b="0">
                <a:solidFill>
                  <a:srgbClr val="F5EFE6"/>
                </a:solidFill>
                <a:latin typeface="等线"/>
                <a:ea typeface="等线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700" b="0">
                <a:solidFill>
                  <a:srgbClr val="F5EFE6"/>
                </a:solidFill>
                <a:latin typeface="等线"/>
                <a:ea typeface="等线"/>
              </a:rPr>
              <a:t>结局不是打出来的，是「选」出来的。</a:t>
            </a:r>
          </a:p>
        </p:txBody>
      </p:sp>
      <p:pic>
        <p:nvPicPr>
          <p:cNvPr id="12" name="Picture 11" descr="QQ_17915534259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148840"/>
            <a:ext cx="4983480" cy="2905527"/>
          </a:xfrm>
          <a:prstGeom prst="rect">
            <a:avLst/>
          </a:prstGeom>
          <a:ln w="17780">
            <a:solidFill>
              <a:srgbClr val="D4AF74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10607040" y="6327648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8A6A3A"/>
                </a:solidFill>
                <a:latin typeface="方正姚体"/>
                <a:ea typeface="方正姚体"/>
              </a:rPr>
              <a:t>· 03 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397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7744" y="237744"/>
            <a:ext cx="11716207" cy="6382512"/>
          </a:xfrm>
          <a:prstGeom prst="rect">
            <a:avLst/>
          </a:prstGeom>
          <a:noFill/>
          <a:ln w="6350">
            <a:solidFill>
              <a:srgbClr val="8A6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566928"/>
            <a:ext cx="82296" cy="15240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50292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4AF74"/>
                </a:solidFill>
                <a:latin typeface="方正姚体"/>
                <a:ea typeface="方正姚体"/>
              </a:rPr>
              <a:t>GAMEPLAY · 怎么玩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9692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>
                <a:solidFill>
                  <a:srgbClr val="F5EFE6"/>
                </a:solidFill>
                <a:latin typeface="方正舒体"/>
                <a:ea typeface="方正舒体"/>
              </a:rPr>
              <a:t>四次选择，走向你的黎明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700784"/>
            <a:ext cx="1371600" cy="30480"/>
          </a:xfrm>
          <a:prstGeom prst="rect">
            <a:avLst/>
          </a:prstGeom>
          <a:solidFill>
            <a:srgbClr val="D4AF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700784"/>
            <a:ext cx="548640" cy="3048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al-im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1088" y="347472"/>
            <a:ext cx="566928" cy="56692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234440" y="2240280"/>
            <a:ext cx="896112" cy="896112"/>
          </a:xfrm>
          <a:prstGeom prst="ellipse">
            <a:avLst/>
          </a:prstGeom>
          <a:solidFill>
            <a:srgbClr val="241415"/>
          </a:solidFill>
          <a:ln w="2032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395728"/>
            <a:ext cx="89611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4AF74"/>
                </a:solidFill>
                <a:latin typeface="方正舒体"/>
                <a:ea typeface="方正舒体"/>
              </a:rPr>
              <a:t>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18105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>
                <a:solidFill>
                  <a:srgbClr val="F5EFE6"/>
                </a:solidFill>
                <a:latin typeface="方正舒体"/>
                <a:ea typeface="方正舒体"/>
              </a:rPr>
              <a:t>雾都夜行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03704" y="2679192"/>
            <a:ext cx="1755648" cy="15240"/>
          </a:xfrm>
          <a:prstGeom prst="rect">
            <a:avLst/>
          </a:prstGeom>
          <a:solidFill>
            <a:srgbClr val="8A6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23360" y="2240280"/>
            <a:ext cx="896112" cy="896112"/>
          </a:xfrm>
          <a:prstGeom prst="ellipse">
            <a:avLst/>
          </a:prstGeom>
          <a:solidFill>
            <a:srgbClr val="241415"/>
          </a:solidFill>
          <a:ln w="2032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2395728"/>
            <a:ext cx="89611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4AF74"/>
                </a:solidFill>
                <a:latin typeface="方正舒体"/>
                <a:ea typeface="方正舒体"/>
              </a:rPr>
              <a:t>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291840"/>
            <a:ext cx="18105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>
                <a:solidFill>
                  <a:srgbClr val="F5EFE6"/>
                </a:solidFill>
                <a:latin typeface="方正舒体"/>
                <a:ea typeface="方正舒体"/>
              </a:rPr>
              <a:t>狱中书信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92624" y="2679192"/>
            <a:ext cx="1755648" cy="15240"/>
          </a:xfrm>
          <a:prstGeom prst="rect">
            <a:avLst/>
          </a:prstGeom>
          <a:solidFill>
            <a:srgbClr val="8A6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12279" y="2240280"/>
            <a:ext cx="896112" cy="896112"/>
          </a:xfrm>
          <a:prstGeom prst="ellipse">
            <a:avLst/>
          </a:prstGeom>
          <a:solidFill>
            <a:srgbClr val="241415"/>
          </a:solidFill>
          <a:ln w="2032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79" y="2395728"/>
            <a:ext cx="89611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4AF74"/>
                </a:solidFill>
                <a:latin typeface="方正舒体"/>
                <a:ea typeface="方正舒体"/>
              </a:rPr>
              <a:t>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79" y="3291840"/>
            <a:ext cx="18105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>
                <a:solidFill>
                  <a:srgbClr val="F5EFE6"/>
                </a:solidFill>
                <a:latin typeface="方正舒体"/>
                <a:ea typeface="方正舒体"/>
              </a:rPr>
              <a:t>囚窗诗会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81544" y="2679192"/>
            <a:ext cx="1755648" cy="15240"/>
          </a:xfrm>
          <a:prstGeom prst="rect">
            <a:avLst/>
          </a:prstGeom>
          <a:solidFill>
            <a:srgbClr val="8A6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199" y="2240280"/>
            <a:ext cx="896112" cy="896112"/>
          </a:xfrm>
          <a:prstGeom prst="ellipse">
            <a:avLst/>
          </a:prstGeom>
          <a:solidFill>
            <a:srgbClr val="241415"/>
          </a:solidFill>
          <a:ln w="2032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9" y="2395728"/>
            <a:ext cx="89611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4AF74"/>
                </a:solidFill>
                <a:latin typeface="方正舒体"/>
                <a:ea typeface="方正舒体"/>
              </a:rPr>
              <a:t>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3291840"/>
            <a:ext cx="18105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>
                <a:solidFill>
                  <a:srgbClr val="F5EFE6"/>
                </a:solidFill>
                <a:latin typeface="方正舒体"/>
                <a:ea typeface="方正舒体"/>
              </a:rPr>
              <a:t>黎明前夜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1148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A89E90"/>
                </a:solidFill>
                <a:latin typeface="等线"/>
                <a:ea typeface="等线"/>
              </a:rPr>
              <a:t>每一次选择，累计一种品格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88920" y="4572000"/>
            <a:ext cx="1371600" cy="475488"/>
          </a:xfrm>
          <a:prstGeom prst="roundRect">
            <a:avLst/>
          </a:prstGeom>
          <a:solidFill>
            <a:srgbClr val="7A1E20"/>
          </a:solidFill>
          <a:ln w="12700">
            <a:solidFill>
              <a:srgbClr val="C327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4645152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F5EFE6"/>
                </a:solidFill>
                <a:latin typeface="方正舒体"/>
                <a:ea typeface="方正舒体"/>
              </a:rPr>
              <a:t>忠贞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4572000"/>
            <a:ext cx="1371600" cy="475488"/>
          </a:xfrm>
          <a:prstGeom prst="roundRect">
            <a:avLst/>
          </a:prstGeom>
          <a:solidFill>
            <a:srgbClr val="7A1E20"/>
          </a:solidFill>
          <a:ln w="12700">
            <a:solidFill>
              <a:srgbClr val="C327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4645152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F5EFE6"/>
                </a:solidFill>
                <a:latin typeface="方正舒体"/>
                <a:ea typeface="方正舒体"/>
              </a:rPr>
              <a:t>坚韧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4572000"/>
            <a:ext cx="1371600" cy="475488"/>
          </a:xfrm>
          <a:prstGeom prst="roundRect">
            <a:avLst/>
          </a:prstGeom>
          <a:solidFill>
            <a:srgbClr val="7A1E20"/>
          </a:solidFill>
          <a:ln w="12700">
            <a:solidFill>
              <a:srgbClr val="C327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645152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F5EFE6"/>
                </a:solidFill>
                <a:latin typeface="方正舒体"/>
                <a:ea typeface="方正舒体"/>
              </a:rPr>
              <a:t>智慧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63840" y="4572000"/>
            <a:ext cx="1371600" cy="475488"/>
          </a:xfrm>
          <a:prstGeom prst="roundRect">
            <a:avLst/>
          </a:prstGeom>
          <a:solidFill>
            <a:srgbClr val="7A1E20"/>
          </a:solidFill>
          <a:ln w="12700">
            <a:solidFill>
              <a:srgbClr val="C327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0" y="4645152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F5EFE6"/>
                </a:solidFill>
                <a:latin typeface="方正舒体"/>
                <a:ea typeface="方正舒体"/>
              </a:rPr>
              <a:t>柔情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44068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A89E90"/>
                </a:solidFill>
                <a:latin typeface="等线"/>
                <a:ea typeface="等线"/>
              </a:rPr>
              <a:t>明灯不灭 · 暗夜传灯 · 狱中磐石 · 铁骨柔情 · 黎明之光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327648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8A6A3A"/>
                </a:solidFill>
                <a:latin typeface="方正姚体"/>
                <a:ea typeface="方正姚体"/>
              </a:rPr>
              <a:t>· 04 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397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7744" y="237744"/>
            <a:ext cx="11716207" cy="6382512"/>
          </a:xfrm>
          <a:prstGeom prst="rect">
            <a:avLst/>
          </a:prstGeom>
          <a:noFill/>
          <a:ln w="6350">
            <a:solidFill>
              <a:srgbClr val="8A6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566928"/>
            <a:ext cx="82296" cy="15240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50292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4AF74"/>
                </a:solidFill>
                <a:latin typeface="方正姚体"/>
                <a:ea typeface="方正姚体"/>
              </a:rPr>
              <a:t>LIVE · 作品实况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9692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>
                <a:solidFill>
                  <a:srgbClr val="F5EFE6"/>
                </a:solidFill>
                <a:latin typeface="方正舒体"/>
                <a:ea typeface="方正舒体"/>
              </a:rPr>
              <a:t>打开这个网页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700784"/>
            <a:ext cx="1371600" cy="30480"/>
          </a:xfrm>
          <a:prstGeom prst="rect">
            <a:avLst/>
          </a:prstGeom>
          <a:solidFill>
            <a:srgbClr val="D4AF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700784"/>
            <a:ext cx="548640" cy="3048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al-im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1088" y="347472"/>
            <a:ext cx="566928" cy="566928"/>
          </a:xfrm>
          <a:prstGeom prst="rect">
            <a:avLst/>
          </a:prstGeom>
        </p:spPr>
      </p:pic>
      <p:pic>
        <p:nvPicPr>
          <p:cNvPr id="11" name="Picture 10" descr="QQ_17915535015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86000"/>
            <a:ext cx="3438144" cy="1879909"/>
          </a:xfrm>
          <a:prstGeom prst="rect">
            <a:avLst/>
          </a:prstGeom>
          <a:ln w="17780">
            <a:solidFill>
              <a:srgbClr val="D4AF74"/>
            </a:solidFill>
          </a:ln>
        </p:spPr>
      </p:pic>
      <p:pic>
        <p:nvPicPr>
          <p:cNvPr id="12" name="Picture 11" descr="QQ_17915536332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568" y="2286000"/>
            <a:ext cx="3438144" cy="1914722"/>
          </a:xfrm>
          <a:prstGeom prst="rect">
            <a:avLst/>
          </a:prstGeom>
          <a:ln w="17780">
            <a:solidFill>
              <a:srgbClr val="D4AF74"/>
            </a:solidFill>
          </a:ln>
        </p:spPr>
      </p:pic>
      <p:pic>
        <p:nvPicPr>
          <p:cNvPr id="13" name="Picture 12" descr="QQ_17915536598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0455" y="2286000"/>
            <a:ext cx="3438144" cy="1933956"/>
          </a:xfrm>
          <a:prstGeom prst="rect">
            <a:avLst/>
          </a:prstGeom>
          <a:ln w="17780">
            <a:solidFill>
              <a:srgbClr val="D4AF74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10607040" y="6327648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8A6A3A"/>
                </a:solidFill>
                <a:latin typeface="方正姚体"/>
                <a:ea typeface="方正姚体"/>
              </a:rPr>
              <a:t>· 05 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397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7744" y="237744"/>
            <a:ext cx="11716207" cy="6382512"/>
          </a:xfrm>
          <a:prstGeom prst="rect">
            <a:avLst/>
          </a:prstGeom>
          <a:noFill/>
          <a:ln w="6350">
            <a:solidFill>
              <a:srgbClr val="8A6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566928"/>
            <a:ext cx="82296" cy="15240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50292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4AF74"/>
                </a:solidFill>
                <a:latin typeface="方正姚体"/>
                <a:ea typeface="方正姚体"/>
              </a:rPr>
              <a:t>LIVE · 作品实况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9692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>
                <a:solidFill>
                  <a:srgbClr val="F5EFE6"/>
                </a:solidFill>
                <a:latin typeface="方正舒体"/>
                <a:ea typeface="方正舒体"/>
              </a:rPr>
              <a:t>继续往下滚，还有这些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700784"/>
            <a:ext cx="1371600" cy="30480"/>
          </a:xfrm>
          <a:prstGeom prst="rect">
            <a:avLst/>
          </a:prstGeom>
          <a:solidFill>
            <a:srgbClr val="D4AF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700784"/>
            <a:ext cx="548640" cy="3048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al-im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1088" y="347472"/>
            <a:ext cx="566928" cy="566928"/>
          </a:xfrm>
          <a:prstGeom prst="rect">
            <a:avLst/>
          </a:prstGeom>
        </p:spPr>
      </p:pic>
      <p:pic>
        <p:nvPicPr>
          <p:cNvPr id="11" name="Picture 10" descr="QQ_17915536768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86000"/>
            <a:ext cx="3438144" cy="1989705"/>
          </a:xfrm>
          <a:prstGeom prst="rect">
            <a:avLst/>
          </a:prstGeom>
          <a:ln w="17780">
            <a:solidFill>
              <a:srgbClr val="D4AF74"/>
            </a:solidFill>
          </a:ln>
        </p:spPr>
      </p:pic>
      <p:pic>
        <p:nvPicPr>
          <p:cNvPr id="12" name="Picture 11" descr="QQ_17915537097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568" y="2286000"/>
            <a:ext cx="3438144" cy="1899990"/>
          </a:xfrm>
          <a:prstGeom prst="rect">
            <a:avLst/>
          </a:prstGeom>
          <a:ln w="17780">
            <a:solidFill>
              <a:srgbClr val="D4AF74"/>
            </a:solidFill>
          </a:ln>
        </p:spPr>
      </p:pic>
      <p:pic>
        <p:nvPicPr>
          <p:cNvPr id="13" name="Picture 12" descr="QQ_179155372817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0455" y="2286000"/>
            <a:ext cx="3438144" cy="1892786"/>
          </a:xfrm>
          <a:prstGeom prst="rect">
            <a:avLst/>
          </a:prstGeom>
          <a:ln w="17780">
            <a:solidFill>
              <a:srgbClr val="D4AF74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10607040" y="6327648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8A6A3A"/>
                </a:solidFill>
                <a:latin typeface="方正姚体"/>
                <a:ea typeface="方正姚体"/>
              </a:rPr>
              <a:t>· 06 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397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7744" y="237744"/>
            <a:ext cx="11716207" cy="6382512"/>
          </a:xfrm>
          <a:prstGeom prst="rect">
            <a:avLst/>
          </a:prstGeom>
          <a:noFill/>
          <a:ln w="6350">
            <a:solidFill>
              <a:srgbClr val="8A6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566928"/>
            <a:ext cx="82296" cy="15240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50292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4AF74"/>
                </a:solidFill>
                <a:latin typeface="方正姚体"/>
                <a:ea typeface="方正姚体"/>
              </a:rPr>
              <a:t>REAL · 真实与敬畏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9692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>
                <a:solidFill>
                  <a:srgbClr val="F5EFE6"/>
                </a:solidFill>
                <a:latin typeface="方正舒体"/>
                <a:ea typeface="方正舒体"/>
              </a:rPr>
              <a:t>虚拟的，和真实的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700784"/>
            <a:ext cx="1371600" cy="30480"/>
          </a:xfrm>
          <a:prstGeom prst="rect">
            <a:avLst/>
          </a:prstGeom>
          <a:solidFill>
            <a:srgbClr val="D4AF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700784"/>
            <a:ext cx="548640" cy="3048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al-im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1088" y="347472"/>
            <a:ext cx="566928" cy="566928"/>
          </a:xfrm>
          <a:prstGeom prst="rect">
            <a:avLst/>
          </a:prstGeom>
        </p:spPr>
      </p:pic>
      <p:pic>
        <p:nvPicPr>
          <p:cNvPr id="11" name="Picture 10" descr="real-zhazidong-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148840"/>
            <a:ext cx="5120640" cy="3840480"/>
          </a:xfrm>
          <a:prstGeom prst="rect">
            <a:avLst/>
          </a:prstGeom>
          <a:ln w="17780">
            <a:solidFill>
              <a:srgbClr val="D4AF74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55080" y="2286000"/>
            <a:ext cx="50292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90000"/>
              </a:lnSpc>
            </a:pPr>
            <a:r>
              <a:rPr sz="1600" b="0">
                <a:solidFill>
                  <a:srgbClr val="F5EFE6"/>
                </a:solidFill>
                <a:latin typeface="等线"/>
                <a:ea typeface="等线"/>
              </a:rPr>
              <a:t>游戏是虚构的，地方是真的。</a:t>
            </a:r>
          </a:p>
          <a:p>
            <a:pPr algn="l">
              <a:lnSpc>
                <a:spcPct val="190000"/>
              </a:lnSpc>
            </a:pPr>
            <a:r>
              <a:rPr sz="1600" b="0">
                <a:solidFill>
                  <a:srgbClr val="F5EFE6"/>
                </a:solidFill>
                <a:latin typeface="等线"/>
                <a:ea typeface="等线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600" b="0">
                <a:solidFill>
                  <a:srgbClr val="F5EFE6"/>
                </a:solidFill>
                <a:latin typeface="等线"/>
                <a:ea typeface="等线"/>
              </a:rPr>
              <a:t>所有剧情档案都来自真实史料：</a:t>
            </a:r>
          </a:p>
          <a:p>
            <a:pPr algn="l">
              <a:lnSpc>
                <a:spcPct val="190000"/>
              </a:lnSpc>
            </a:pPr>
            <a:r>
              <a:rPr sz="1600" b="0">
                <a:solidFill>
                  <a:srgbClr val="F5EFE6"/>
                </a:solidFill>
                <a:latin typeface="等线"/>
                <a:ea typeface="等线"/>
              </a:rPr>
              <a:t>江姐的竹签之问、狱中诗会、</a:t>
            </a:r>
          </a:p>
          <a:p>
            <a:pPr algn="l">
              <a:lnSpc>
                <a:spcPct val="190000"/>
              </a:lnSpc>
            </a:pPr>
            <a:r>
              <a:rPr sz="1600" b="0">
                <a:solidFill>
                  <a:srgbClr val="F5EFE6"/>
                </a:solidFill>
                <a:latin typeface="等线"/>
                <a:ea typeface="等线"/>
              </a:rPr>
              <a:t>1949 年 11 月 27 日、「狱中八条」。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58978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46A5E"/>
                </a:solidFill>
                <a:latin typeface="等线"/>
                <a:ea typeface="等线"/>
              </a:rPr>
              <a:t>照片：渣滓洞监狱旧址 · CC BY-SA 4.0 · Wikimedia Commons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27648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8A6A3A"/>
                </a:solidFill>
                <a:latin typeface="方正姚体"/>
                <a:ea typeface="方正姚体"/>
              </a:rPr>
              <a:t>· 07 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397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7744" y="237744"/>
            <a:ext cx="11716207" cy="6382512"/>
          </a:xfrm>
          <a:prstGeom prst="rect">
            <a:avLst/>
          </a:prstGeom>
          <a:noFill/>
          <a:ln w="6350">
            <a:solidFill>
              <a:srgbClr val="8A6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566928"/>
            <a:ext cx="82296" cy="15240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50292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4AF74"/>
                </a:solidFill>
                <a:latin typeface="方正姚体"/>
                <a:ea typeface="方正姚体"/>
              </a:rPr>
              <a:t>TECHNOLOGY · 技术实现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9692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>
                <a:solidFill>
                  <a:srgbClr val="F5EFE6"/>
                </a:solidFill>
                <a:latin typeface="方正舒体"/>
                <a:ea typeface="方正舒体"/>
              </a:rPr>
              <a:t>三个文件，打开就是全部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700784"/>
            <a:ext cx="1371600" cy="30480"/>
          </a:xfrm>
          <a:prstGeom prst="rect">
            <a:avLst/>
          </a:prstGeom>
          <a:solidFill>
            <a:srgbClr val="D4AF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700784"/>
            <a:ext cx="548640" cy="3048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al-im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1088" y="347472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2331720"/>
            <a:ext cx="3474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b="0">
                <a:solidFill>
                  <a:srgbClr val="D4AF74"/>
                </a:solidFill>
                <a:latin typeface="方正舒体"/>
                <a:ea typeface="方正舒体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041648"/>
            <a:ext cx="3017520" cy="17780"/>
          </a:xfrm>
          <a:prstGeom prst="rect">
            <a:avLst/>
          </a:prstGeom>
          <a:solidFill>
            <a:srgbClr val="8A6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206240"/>
            <a:ext cx="3520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A89E90"/>
                </a:solidFill>
                <a:latin typeface="等线"/>
                <a:ea typeface="等线"/>
              </a:rPr>
              <a:t>个文件：html / css / 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331720"/>
            <a:ext cx="3474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b="0">
                <a:solidFill>
                  <a:srgbClr val="D4AF74"/>
                </a:solidFill>
                <a:latin typeface="方正舒体"/>
                <a:ea typeface="方正舒体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44568" y="4041648"/>
            <a:ext cx="3017520" cy="17780"/>
          </a:xfrm>
          <a:prstGeom prst="rect">
            <a:avLst/>
          </a:prstGeom>
          <a:solidFill>
            <a:srgbClr val="8A6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4206240"/>
            <a:ext cx="3520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A89E90"/>
                </a:solidFill>
                <a:latin typeface="等线"/>
                <a:ea typeface="等线"/>
              </a:rPr>
              <a:t>个外部依赖 · 断网可运行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5" y="2331720"/>
            <a:ext cx="3474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b="0">
                <a:solidFill>
                  <a:srgbClr val="D4AF74"/>
                </a:solidFill>
                <a:latin typeface="方正舒体"/>
                <a:ea typeface="方正舒体"/>
              </a:rPr>
              <a:t>15+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0455" y="4041648"/>
            <a:ext cx="3017520" cy="17780"/>
          </a:xfrm>
          <a:prstGeom prst="rect">
            <a:avLst/>
          </a:prstGeom>
          <a:solidFill>
            <a:srgbClr val="8A6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0455" y="4206240"/>
            <a:ext cx="3520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A89E90"/>
                </a:solidFill>
                <a:latin typeface="等线"/>
                <a:ea typeface="等线"/>
              </a:rPr>
              <a:t>个可玩模块：游戏/绣旗/集卡/证书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25780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A89E90"/>
                </a:solidFill>
                <a:latin typeface="等线"/>
                <a:ea typeface="等线"/>
              </a:rPr>
              <a:t>Canvas 2D · SVG 手绘视觉 · Web Audio 合成音效 · localStorage 存档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A89E90"/>
                </a:solidFill>
                <a:latin typeface="等线"/>
                <a:ea typeface="等线"/>
              </a:rPr>
              <a:t>全部浏览器原生能力，无任何第三方库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327648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8A6A3A"/>
                </a:solidFill>
                <a:latin typeface="方正姚体"/>
                <a:ea typeface="方正姚体"/>
              </a:rPr>
              <a:t>· 08 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397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7744" y="237744"/>
            <a:ext cx="11716207" cy="6382512"/>
          </a:xfrm>
          <a:prstGeom prst="rect">
            <a:avLst/>
          </a:prstGeom>
          <a:noFill/>
          <a:ln w="6350">
            <a:solidFill>
              <a:srgbClr val="8A6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566928"/>
            <a:ext cx="82296" cy="15240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50292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4AF74"/>
                </a:solidFill>
                <a:latin typeface="方正姚体"/>
                <a:ea typeface="方正姚体"/>
              </a:rPr>
              <a:t>AUTHOR'S NOTE · 创作手记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9692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>
                <a:solidFill>
                  <a:srgbClr val="F5EFE6"/>
                </a:solidFill>
                <a:latin typeface="方正舒体"/>
                <a:ea typeface="方正舒体"/>
              </a:rPr>
              <a:t>一句真心话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700784"/>
            <a:ext cx="1371600" cy="30480"/>
          </a:xfrm>
          <a:prstGeom prst="rect">
            <a:avLst/>
          </a:prstGeom>
          <a:solidFill>
            <a:srgbClr val="D4AF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700784"/>
            <a:ext cx="548640" cy="3048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al-im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1088" y="347472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97280" y="1874519"/>
            <a:ext cx="1828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0">
                <a:solidFill>
                  <a:srgbClr val="8A6A3A"/>
                </a:solidFill>
                <a:latin typeface="方正舒体"/>
                <a:ea typeface="方正舒体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514600"/>
            <a:ext cx="95097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3000" b="0">
                <a:solidFill>
                  <a:srgbClr val="F5EFE6"/>
                </a:solidFill>
                <a:latin typeface="方正舒体"/>
                <a:ea typeface="方正舒体"/>
              </a:rPr>
              <a:t>定稿那天，改稿的同学盯着屏幕看了很久，</a:t>
            </a:r>
          </a:p>
          <a:p>
            <a:pPr algn="l">
              <a:lnSpc>
                <a:spcPct val="160000"/>
              </a:lnSpc>
            </a:pPr>
            <a:r>
              <a:rPr sz="3000" b="0">
                <a:solidFill>
                  <a:srgbClr val="F5EFE6"/>
                </a:solidFill>
                <a:latin typeface="方正舒体"/>
                <a:ea typeface="方正舒体"/>
              </a:rPr>
              <a:t>说了一句：我们现在过得挺容易的。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5029200"/>
            <a:ext cx="2926080" cy="15240"/>
          </a:xfrm>
          <a:prstGeom prst="rect">
            <a:avLst/>
          </a:prstGeom>
          <a:solidFill>
            <a:srgbClr val="8A6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5074920"/>
            <a:ext cx="4297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A89E90"/>
                </a:solidFill>
                <a:latin typeface="等线"/>
                <a:ea typeface="等线"/>
              </a:rPr>
              <a:t>——《黎明前夜》创作手记</a:t>
            </a:r>
          </a:p>
        </p:txBody>
      </p:sp>
      <p:pic>
        <p:nvPicPr>
          <p:cNvPr id="15" name="Picture 14" descr="seal-im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2103120"/>
            <a:ext cx="777240" cy="777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07040" y="6327648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8A6A3A"/>
                </a:solidFill>
                <a:latin typeface="方正姚体"/>
                <a:ea typeface="方正姚体"/>
              </a:rPr>
              <a:t>· 09 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3970">
            <a:solidFill>
              <a:srgbClr val="D4A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7744" y="237744"/>
            <a:ext cx="11716207" cy="6382512"/>
          </a:xfrm>
          <a:prstGeom prst="rect">
            <a:avLst/>
          </a:prstGeom>
          <a:noFill/>
          <a:ln w="6350">
            <a:solidFill>
              <a:srgbClr val="8A6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892040"/>
            <a:ext cx="12191695" cy="1650959"/>
          </a:xfrm>
          <a:prstGeom prst="rect">
            <a:avLst/>
          </a:prstGeom>
        </p:spPr>
      </p:pic>
      <p:pic>
        <p:nvPicPr>
          <p:cNvPr id="6" name="Picture 5" descr="pl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74320"/>
            <a:ext cx="292608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105156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D4AF74"/>
                </a:solidFill>
                <a:latin typeface="方正姚体"/>
                <a:ea typeface="方正姚体"/>
              </a:rPr>
              <a:t>THANKS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0" b="0">
                <a:solidFill>
                  <a:srgbClr val="D4AF74"/>
                </a:solidFill>
                <a:latin typeface="方正舒体"/>
                <a:ea typeface="方正舒体"/>
              </a:rPr>
              <a:t>谢 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5733288" y="4160520"/>
            <a:ext cx="731520" cy="44450"/>
          </a:xfrm>
          <a:prstGeom prst="rect">
            <a:avLst/>
          </a:prstGeom>
          <a:solidFill>
            <a:srgbClr val="C32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F5EFE6"/>
                </a:solidFill>
                <a:latin typeface="等线"/>
                <a:ea typeface="等线"/>
              </a:rPr>
              <a:t>请各位老师批评指正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80000"/>
              </a:lnSpc>
            </a:pPr>
            <a:r>
              <a:rPr sz="1250" b="0">
                <a:solidFill>
                  <a:srgbClr val="A89E90"/>
                </a:solidFill>
                <a:latin typeface="等线"/>
                <a:ea typeface="等线"/>
              </a:rPr>
              <a:t>在线作品：chenxingyu364.github.io/limingqianye</a:t>
            </a:r>
          </a:p>
          <a:p>
            <a:pPr algn="ctr">
              <a:lnSpc>
                <a:spcPct val="180000"/>
              </a:lnSpc>
            </a:pPr>
            <a:r>
              <a:rPr sz="1250" b="0">
                <a:solidFill>
                  <a:srgbClr val="A89E90"/>
                </a:solidFill>
                <a:latin typeface="等线"/>
                <a:ea typeface="等线"/>
              </a:rPr>
              <a:t>如果你玩完之后，愿意去搜一搜「新华日报报童」——那我们做这件事的目的，就达到了。</a:t>
            </a:r>
          </a:p>
        </p:txBody>
      </p:sp>
      <p:pic>
        <p:nvPicPr>
          <p:cNvPr id="12" name="Picture 11" descr="seal-impr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320040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黎明前夜 · 答辩PPT</dc:title>
  <dc:subject/>
  <dc:creator>作者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