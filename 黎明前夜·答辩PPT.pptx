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75704"/>
            <a:ext cx="12191695" cy="82296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C9A063"/>
                </a:solidFill>
                <a:latin typeface="Microsoft YaHei"/>
                <a:ea typeface="Microsoft YaHei"/>
              </a:rPr>
              <a:t>THE NIGHT BEFORE DAWN · 数字媒体艺术设计参赛作品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200" b="1">
                <a:solidFill>
                  <a:srgbClr val="E8D5AE"/>
                </a:solidFill>
                <a:latin typeface="Microsoft YaHei"/>
                <a:ea typeface="Microsoft YaHei"/>
              </a:rPr>
              <a:t>黎 明 前 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0">
                <a:solidFill>
                  <a:srgbClr val="FFFFFF"/>
                </a:solidFill>
                <a:latin typeface="Microsoft YaHei"/>
                <a:ea typeface="Microsoft YaHei"/>
              </a:rPr>
              <a:t>红岩精神互动叙事游戏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13048" y="3977639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报童宋小福的 1949 · 四章剧情 · 多结局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692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0">
                <a:solidFill>
                  <a:srgbClr val="9C948A"/>
                </a:solidFill>
                <a:latin typeface="Microsoft YaHei"/>
                <a:ea typeface="Microsoft YaHei"/>
              </a:rPr>
              <a:t>参赛人：__________　　指导老师：__________　　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BACKGROUND · 选题背景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为什么是红岩？为什么是游戏？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3657600" cy="448056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红岩精神 · 六重内核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忠贞信仰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狱中坚守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黎明抗争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铁骨柔情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雾都明灯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星火燎原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C9A063"/>
                </a:solidFill>
                <a:latin typeface="Microsoft YaHei"/>
                <a:ea typeface="Microsoft YaHei"/>
              </a:rPr>
              <a:t>红岩精神 · 六重内核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80" y="1691640"/>
            <a:ext cx="7086600" cy="201168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三个痛点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① 说教式传播——「你应该学习」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② 内容同质化——红梅、誓言、口号千篇一律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③ 年轻人无感——历史与他们之间有雾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931920"/>
            <a:ext cx="7086600" cy="224028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D5AE"/>
                </a:solidFill>
                <a:latin typeface="Microsoft YaHei"/>
                <a:ea typeface="Microsoft YaHei"/>
              </a:rPr>
              <a:t>三个机会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D5AE"/>
                </a:solidFill>
                <a:latin typeface="Microsoft YaHei"/>
                <a:ea typeface="Microsoft YaHei"/>
              </a:rPr>
              <a:t>① 参与式体验——「你来选择」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D5AE"/>
                </a:solidFill>
                <a:latin typeface="Microsoft YaHei"/>
                <a:ea typeface="Microsoft YaHei"/>
              </a:rPr>
              <a:t>② 史料即内容——真实档案是最大的差异化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D5AE"/>
                </a:solidFill>
                <a:latin typeface="Microsoft YaHei"/>
                <a:ea typeface="Microsoft YaHei"/>
              </a:rPr>
              <a:t>③ 游戏化叙事——让历史成为可以玩的黎明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C3272B"/>
                </a:solidFill>
                <a:latin typeface="Microsoft YaHei"/>
                <a:ea typeface="Microsoft YaHei"/>
              </a:rPr>
              <a:t>核心命题：红色文化传播，从「讲给年轻人听」转向「让年轻人自己选择」。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POSITIONING · 作品定位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一句话读懂作品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1000232" cy="173736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2412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Microsoft YaHei"/>
                <a:ea typeface="Microsoft YaHei"/>
              </a:rPr>
              <a:t>《黎明前夜》是一款红岩精神主题的 Web 互动叙事游戏——</a:t>
            </a:r>
          </a:p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Microsoft YaHei"/>
                <a:ea typeface="Microsoft YaHei"/>
              </a:rPr>
              <a:t>玩家扮演 1949 年重庆《新华日报》报童宋小福，</a:t>
            </a:r>
          </a:p>
          <a:p>
            <a:pPr algn="ctr">
              <a:lnSpc>
                <a:spcPct val="150000"/>
              </a:lnSpc>
            </a:pPr>
            <a:r>
              <a:rPr sz="1900" b="0">
                <a:solidFill>
                  <a:srgbClr val="FFFFFF"/>
                </a:solidFill>
                <a:latin typeface="Microsoft YaHei"/>
                <a:ea typeface="Microsoft YaHei"/>
              </a:rPr>
              <a:t>用四章剧情、四次生死抉择，走出属于自己的黎明。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9776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E8D5AE"/>
                </a:solidFill>
                <a:latin typeface="Microsoft YaHei"/>
                <a:ea typeface="Microsoft YaHei"/>
              </a:rPr>
              <a:t>互动叙事</a:t>
            </a:r>
          </a:p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E8D5AE"/>
                </a:solidFill>
                <a:latin typeface="Microsoft YaHei"/>
                <a:ea typeface="Microsoft YaHei"/>
              </a:rPr>
              <a:t>剧情不是被读的，是被选的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9976" y="39776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E8D5AE"/>
                </a:solidFill>
                <a:latin typeface="Microsoft YaHei"/>
                <a:ea typeface="Microsoft YaHei"/>
              </a:rPr>
              <a:t>品格引擎</a:t>
            </a:r>
          </a:p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E8D5AE"/>
                </a:solidFill>
                <a:latin typeface="Microsoft YaHei"/>
                <a:ea typeface="Microsoft YaHei"/>
              </a:rPr>
              <a:t>选择积累品格维度，决定结局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3977639"/>
            <a:ext cx="3520440" cy="155448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E8D5AE"/>
                </a:solidFill>
                <a:latin typeface="Microsoft YaHei"/>
                <a:ea typeface="Microsoft YaHei"/>
              </a:rPr>
              <a:t>多结局</a:t>
            </a:r>
          </a:p>
          <a:p>
            <a:pPr algn="ctr">
              <a:lnSpc>
                <a:spcPct val="112000"/>
              </a:lnSpc>
            </a:pPr>
            <a:r>
              <a:rPr sz="1500" b="0">
                <a:solidFill>
                  <a:srgbClr val="E8D5AE"/>
                </a:solidFill>
                <a:latin typeface="Microsoft YaHei"/>
                <a:ea typeface="Microsoft YaHei"/>
              </a:rPr>
              <a:t>五种结局，各有各的黎明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8978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C9A063"/>
                </a:solidFill>
                <a:latin typeface="Microsoft YaHei"/>
                <a:ea typeface="Microsoft YaHei"/>
              </a:rPr>
              <a:t>一句主张：你选择的不是关卡，是信仰的形态。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NARRATIVE · 故事与角色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报童宋小福的 1949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45920"/>
            <a:ext cx="3200400" cy="16002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E8D5AE"/>
                </a:solidFill>
                <a:latin typeface="Microsoft YaHei"/>
                <a:ea typeface="Microsoft YaHei"/>
              </a:rPr>
              <a:t>主角</a:t>
            </a: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E8D5AE"/>
                </a:solidFill>
                <a:latin typeface="Microsoft YaHei"/>
                <a:ea typeface="Microsoft YaHei"/>
              </a:rPr>
              <a:t>宋小福 · 16岁</a:t>
            </a:r>
          </a:p>
          <a:p>
            <a:pPr algn="ctr">
              <a:lnSpc>
                <a:spcPct val="112000"/>
              </a:lnSpc>
            </a:pPr>
            <a:r>
              <a:rPr sz="1600" b="0">
                <a:solidFill>
                  <a:srgbClr val="E8D5AE"/>
                </a:solidFill>
                <a:latin typeface="Microsoft YaHei"/>
                <a:ea typeface="Microsoft YaHei"/>
              </a:rPr>
              <a:t>《新华日报》报童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77639" y="1645920"/>
            <a:ext cx="7635240" cy="16002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历史原型：真实存在的「新华日报报童」群体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——1938 年起在重庆军警监视下送报，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既是发行员，也是传递消息的交通员，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被称作「雾都的传灯人」。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6576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第一章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雾都夜行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送报穿越封锁线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36576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第二章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狱中书信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竹签之问不改其志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36576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第三章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囚窗诗会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传诗与守望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3657600"/>
            <a:ext cx="2606040" cy="1691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第四章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黎明前夜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11·27 大屠杀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623560"/>
            <a:ext cx="11000232" cy="64008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📜 每章结束附「档案卡」——全部真实史料出处（新华日报创刊 / 江姐竹签之问 / 狱中诗会 / 狱中八条）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GAMEPLAY · 核心玩法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四大游戏化系统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🎮 送报小游戏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第一章可玩关卡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躲避军警手电光柱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收集 5 份报纸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成功获得道具「最后一份报纸」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69164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⚖️ 生死抉择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四章四次抉择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忠贞 / 坚韧 / 智慧 / 柔情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四维品格计分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信念值即时反馈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7947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🔍 道具探索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每章隐藏探索点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铅笔头 / 诗稿 / 狱中八条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集齐四件道具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解锁隐藏结局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3794760"/>
            <a:ext cx="5394960" cy="1874519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📖 结局图鉴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五种结局收集格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未解锁显示「？？？」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localStorage 持久化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多周目核心动力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943600"/>
            <a:ext cx="11000232" cy="548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50" b="1">
                <a:solidFill>
                  <a:srgbClr val="C3272B"/>
                </a:solidFill>
                <a:latin typeface="Microsoft YaHei"/>
                <a:ea typeface="Microsoft YaHei"/>
              </a:rPr>
              <a:t>失败不惩罚，坚持有回报——每一个选择都被尊重，每一种品格都有结局。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ENDING SYSTEM · 多结局设计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五种结局，各有各的黎明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🕯 明灯不灭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忠贞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黎明前夜倒下，灯不灭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52928" y="17830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🏮 暗夜传灯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智慧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把火种带出牢房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11496" y="17830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⛰ 狱中磐石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坚韧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咬住最黑的夜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70064" y="17830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🌸 铁骨柔情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柔情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E8D5AE"/>
                </a:solidFill>
                <a:latin typeface="Microsoft YaHei"/>
                <a:ea typeface="Microsoft YaHei"/>
              </a:rPr>
              <a:t>扑向黎明，也守住牵挂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28632" y="1783080"/>
            <a:ext cx="2057400" cy="23774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🌅 黎明之光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隐藏</a:t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集齐四道具·圆满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4480560"/>
            <a:ext cx="11000232" cy="105156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</a:rPr>
              <a:t>品格由选择定义</a:t>
            </a:r>
          </a:p>
          <a:p>
            <a:pPr algn="ctr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450" b="0">
                <a:solidFill>
                  <a:srgbClr val="FFFFFF"/>
                </a:solidFill>
                <a:latin typeface="Microsoft YaHei"/>
                <a:ea typeface="Microsoft YaHei"/>
              </a:rPr>
              <a:t>四章抉择 → 品格维度累计 → 结局判定（含平局特殊结局「星火燎原」）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5760720"/>
            <a:ext cx="11000232" cy="59436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结局图鉴 × 隐藏结局 → 自发二刷 → 截图分享 → 传播闭环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TECHNOLOGY · 技术实现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纯浏览器原生能力 · 零依赖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Canvas 2D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星火燎原粒子系统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送报小游戏关卡引擎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粒子跟随鼠标形成「星火追随」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69164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Web Audio API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抉择 / 档案 / 道具 / 结局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全部音效实时合成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雾都雨声氛围音（零素材文件）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56616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Web Speech API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狱中书信语音朗读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江姐托孤信 / 《囚歌》/ 报童吆喝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系统语音合成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3566160"/>
            <a:ext cx="5394960" cy="1691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localStorage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结局图鉴收集状态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传播数据看板持久化</a:t>
            </a:r>
          </a:p>
          <a:p>
            <a:pPr algn="l">
              <a:lnSpc>
                <a:spcPct val="112000"/>
              </a:lnSpc>
            </a:pPr>
            <a:r>
              <a:rPr sz="1350" b="0">
                <a:solidFill>
                  <a:srgbClr val="E8E4DE"/>
                </a:solidFill>
                <a:latin typeface="Microsoft YaHei"/>
                <a:ea typeface="Microsoft YaHei"/>
              </a:rPr>
              <a:t>多周目进度保留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5623560"/>
            <a:ext cx="11000232" cy="6858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E8D5AE"/>
                </a:solidFill>
                <a:latin typeface="Microsoft YaHei"/>
                <a:ea typeface="Microsoft YaHei"/>
              </a:rPr>
              <a:t>方案价值：无服务器、无第三方依赖、响应式适配桌面与移动端——</a:t>
            </a:r>
          </a:p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E8D5AE"/>
                </a:solidFill>
                <a:latin typeface="Microsoft YaHei"/>
                <a:ea typeface="Microsoft YaHei"/>
              </a:rPr>
              <a:t>打包即用，可一键部署到景区 H5 / 研学平板 / 学校机房。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IP DERIVATIVES · 游戏IP衍生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游戏世界观延伸出四大文创产品线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73736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🧸 潮玩 IP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Q版报童盲盒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角色集卡册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NFC 历史故事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3736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✏️ 文具伴手礼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印章拓印套装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钢笔墨水礼盒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四季花语便利贴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73736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☕ 生活日用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红岩印咖啡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漫游红岩 Pass 打卡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剪纸文创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737360"/>
            <a:ext cx="2606040" cy="22860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📱 数字文创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AR 实景互动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表情包壁纸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E4DE"/>
                </a:solidFill>
                <a:latin typeface="Microsoft YaHei"/>
                <a:ea typeface="Microsoft YaHei"/>
              </a:rPr>
              <a:t>数字藏品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343400"/>
            <a:ext cx="11000232" cy="12344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450" b="0">
                <a:solidFill>
                  <a:srgbClr val="E8D5AE"/>
                </a:solidFill>
                <a:latin typeface="Microsoft YaHei"/>
                <a:ea typeface="Microsoft YaHei"/>
              </a:rPr>
              <a:t>🎓 传灯证书：输入姓名，自动结合真实游戏数据</a:t>
            </a:r>
          </a:p>
          <a:p>
            <a:pPr algn="ctr">
              <a:lnSpc>
                <a:spcPct val="112000"/>
              </a:lnSpc>
            </a:pPr>
            <a:r>
              <a:rPr sz="1450" b="0">
                <a:solidFill>
                  <a:srgbClr val="E8D5AE"/>
                </a:solidFill>
                <a:latin typeface="Microsoft YaHei"/>
                <a:ea typeface="Microsoft YaHei"/>
              </a:rPr>
              <a:t>（结局称号 + 信念值 + 点亮明灯数 + 绣旗进度）</a:t>
            </a:r>
          </a:p>
          <a:p>
            <a:pPr algn="ctr">
              <a:lnSpc>
                <a:spcPct val="112000"/>
              </a:lnSpc>
            </a:pPr>
            <a:r>
              <a:rPr sz="1450" b="0">
                <a:solidFill>
                  <a:srgbClr val="E8D5AE"/>
                </a:solidFill>
                <a:latin typeface="Microsoft YaHei"/>
                <a:ea typeface="Microsoft YaHei"/>
              </a:rPr>
              <a:t>生成专属证书，可下载分享——「数据 → 产物」系统闭环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5806440"/>
            <a:ext cx="11000232" cy="5486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</a:rPr>
              <a:t>游戏 IP × 文创零售 × 研学教具 × 数字传播 = 完整商业生态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DISSEMINATION · 传播与数据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让传播可以被看见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8E4DE"/>
                </a:solidFill>
                <a:latin typeface="Microsoft YaHei"/>
                <a:ea typeface="Microsoft YaHei"/>
              </a:rPr>
              <a:t>红岩传播力数据看板——每一次交互实时计入：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0312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故事被聆听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——段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52928" y="210312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明灯被点亮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——盏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11496" y="210312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红旗被绣成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——面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70064" y="210312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证书被生成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——张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28632" y="2103120"/>
            <a:ext cx="2057400" cy="13716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盲盒被拆开</a:t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300" b="0">
                <a:solidFill>
                  <a:srgbClr val="E8D5AE"/>
                </a:solidFill>
                <a:latin typeface="Microsoft YaHei"/>
                <a:ea typeface="Microsoft YaHei"/>
              </a:rPr>
              <a:t>——次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794760"/>
            <a:ext cx="11000232" cy="146304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传播逻辑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多周目图鉴 → 自发二刷　　隐藏结局 → 收集传播　　结局分享 → 社交裂变　　证书生成 → 身份认同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5486400"/>
            <a:ext cx="11000232" cy="6858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400" b="1">
                <a:solidFill>
                  <a:srgbClr val="C3272B"/>
                </a:solidFill>
                <a:latin typeface="Microsoft YaHei"/>
                <a:ea typeface="Microsoft YaHei"/>
              </a:rPr>
              <a:t>接入正式后台即成为景区 H5 的传播数据看板——用数据证明红色文化传播力。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INNOVATION · 创新点总结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四个「不一样」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品格叙事引擎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选择积累品格、品格决定结局——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拒绝说教，让玩家自己回答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「你会怎么做」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27064" y="169164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史料即内容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档案卡全部真实出处：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江姐竹签之问 / 狱中八条 / 11·27 大屠杀——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故事可溯源，符号有出处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384048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完整游戏化系统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小游戏关卡 × 道具收集 ×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结局图鉴 × 隐藏要素——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一个「能玩」的红色作品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7064" y="3840480"/>
            <a:ext cx="5394960" cy="196596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327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零依赖技术方案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全部浏览器原生能力，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无服务器无第三方依赖，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D5AE"/>
                </a:solidFill>
                <a:latin typeface="Microsoft YaHei"/>
                <a:ea typeface="Microsoft YaHei"/>
              </a:rPr>
              <a:t>打包即用，随处可部署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A063"/>
                </a:solidFill>
                <a:latin typeface="Microsoft YaHei"/>
                <a:ea typeface="Microsoft YaHei"/>
              </a:rPr>
              <a:t>VALUE &amp; FUTURE · 社会价值与展望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530352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E8E4DE"/>
                </a:solidFill>
                <a:latin typeface="Microsoft YaHei"/>
                <a:ea typeface="Microsoft YaHei"/>
              </a:rPr>
              <a:t>让红岩精神成为年轻人的选择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389888"/>
            <a:ext cx="1005840" cy="32004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91640"/>
            <a:ext cx="5394960" cy="210312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应用场景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研学课堂：边玩边学的沉浸思政课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景区文旅：打卡动线与 H5 游戏联动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党建教育：互动式主题党日内容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691640"/>
            <a:ext cx="5349240" cy="210312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未来规划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/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多主角支线：江姐 / 报童 / 狱友视角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AIGC 声音复原：合成烈士语音朗读</a:t>
            </a:r>
          </a:p>
          <a:p>
            <a:pPr algn="l">
              <a:lnSpc>
                <a:spcPct val="112000"/>
              </a:lnSpc>
            </a:pPr>
            <a:r>
              <a:rPr sz="1400" b="0">
                <a:solidFill>
                  <a:srgbClr val="E8E4DE"/>
                </a:solidFill>
                <a:latin typeface="Microsoft YaHei"/>
                <a:ea typeface="Microsoft YaHei"/>
              </a:rPr>
              <a:t>多人共创：玩家共同决定结局走向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069080"/>
            <a:ext cx="11000232" cy="1371600"/>
          </a:xfrm>
          <a:prstGeom prst="roundRect">
            <a:avLst>
              <a:gd name="adj" fmla="val 8000"/>
            </a:avLst>
          </a:prstGeom>
          <a:solidFill>
            <a:srgbClr val="211C19"/>
          </a:solidFill>
          <a:ln w="12700">
            <a:solidFill>
              <a:srgbClr val="C9A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12000"/>
              </a:lnSpc>
            </a:pPr>
            <a:r>
              <a:rPr sz="1700" b="0">
                <a:solidFill>
                  <a:srgbClr val="E8D5AE"/>
                </a:solidFill>
                <a:latin typeface="Microsoft YaHei"/>
                <a:ea typeface="Microsoft YaHei"/>
              </a:rPr>
              <a:t>一张报纸，一盏明灯</a:t>
            </a:r>
          </a:p>
          <a:p>
            <a:pPr algn="ctr">
              <a:lnSpc>
                <a:spcPct val="112000"/>
              </a:lnSpc>
            </a:pPr>
            <a:r>
              <a:rPr sz="1700" b="0">
                <a:solidFill>
                  <a:srgbClr val="E8D5AE"/>
                </a:solidFill>
                <a:latin typeface="Microsoft YaHei"/>
                <a:ea typeface="Microsoft YaHei"/>
              </a:rPr>
              <a:t/>
            </a:r>
          </a:p>
          <a:p>
            <a:pPr algn="ctr">
              <a:lnSpc>
                <a:spcPct val="112000"/>
              </a:lnSpc>
            </a:pPr>
            <a:r>
              <a:rPr sz="1700" b="0">
                <a:solidFill>
                  <a:srgbClr val="E8D5AE"/>
                </a:solidFill>
                <a:latin typeface="Microsoft YaHei"/>
                <a:ea typeface="Microsoft YaHei"/>
              </a:rPr>
              <a:t>雾都再大，也遮不住报上的光——</a:t>
            </a:r>
          </a:p>
          <a:p>
            <a:pPr algn="ctr">
              <a:lnSpc>
                <a:spcPct val="112000"/>
              </a:lnSpc>
            </a:pPr>
            <a:r>
              <a:rPr sz="1700" b="0">
                <a:solidFill>
                  <a:srgbClr val="E8D5AE"/>
                </a:solidFill>
                <a:latin typeface="Microsoft YaHei"/>
                <a:ea typeface="Microsoft YaHei"/>
              </a:rPr>
              <a:t>让红岩精神，成为年轻人自己走出来的选择。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14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6775704"/>
            <a:ext cx="12191695" cy="82296"/>
          </a:xfrm>
          <a:prstGeom prst="roundRect">
            <a:avLst>
              <a:gd name="adj" fmla="val 8000"/>
            </a:avLst>
          </a:prstGeom>
          <a:solidFill>
            <a:srgbClr val="C32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C9A063"/>
                </a:solidFill>
                <a:latin typeface="Microsoft YaHei"/>
                <a:ea typeface="Microsoft YaHei"/>
              </a:rPr>
              <a:t>THANKS · 请各位老师批评指正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000" b="1">
                <a:solidFill>
                  <a:srgbClr val="E8D5AE"/>
                </a:solidFill>
                <a:latin typeface="Microsoft YaHei"/>
                <a:ea typeface="Microsoft YaHei"/>
              </a:rPr>
              <a:t>谢 谢 聆 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3891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</a:rPr>
              <a:t>黎明前夜 · 红岩精神互动叙事游戏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9C948A"/>
                </a:solidFill>
                <a:latin typeface="Microsoft YaHei"/>
                <a:ea typeface="Microsoft YaHei"/>
              </a:rPr>
              <a:t>作品演示：双击 index.html 即可运行 · 纯本地零依赖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92840" y="6455664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9C948A"/>
                </a:solidFill>
                <a:latin typeface="Microsoft YaHei"/>
                <a:ea typeface="Microsoft Ya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